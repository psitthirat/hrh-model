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hyperlink" Target="https://psitthirat.github.io/HRH-model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hyperlink" Target="https://psitthirat.github.io/HRH-model/lab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1 ภาพสไลด์" descr="สไลด์ 1 (S01): การประชุมนำเสนอผลการศึกษาและเสวนานโยบาย · 26 ตุลาคม 2569 · ความก้าวหน้า ไม่ได้เกิดขึ้นเอง · ข้อค้นพบและข้อเสนอเชิงนโยบาย จากโครงการวิจัยการพัฒนาแนวทางและนโยบายการวางแผนกำลังคนด้านสุขภาพโดยใช้แบบจำลองแบบบูรณากา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2 ภาพสไลด์" descr="สไลด์ 2 (S02): สิบสองปีที่ผ่านมา · ความก้าวหน้าเป็นของจริง · แพทย์และพยาบาลเพิ่มขึ้นเร็วกว่าประชากรมาก เราจึงไม่ควรใช้คำว่าขาดแคลนราวกับระบบไม่ได้เพิ่มอะไรเลย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3 ภาพสไลด์" descr="สไลด์ 3 (S03): แผนที่ของเรื่องวันนี้ · ความขาดแคลนไม่ใช่ตัวเลข แต่เป็นความสัมพันธ์ · บริการที่ประชาชนได้รับจริงเกิดเมื่อสองกระบวนการบรรจบกัน คือสังคมยอมรับว่าความจำเป็นใดเป็นพันธะ และระบบสร้างคนที่ทำงานได้จริงขึ้นมารองรับ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4 ภาพสไลด์" descr="สไลด์ 4 (S04): หนึ่ง · นับอย่างไร · หมอพอไหม ขึ้นกับว่านับคนของใคร และเทียบกับงานอะไร · การเลือกขอบเขตบุคลากรขยับตัวเลขมากกว่าการเลือกทะเบียนประชากรหลายเท่า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5 ภาพสไลด์" descr="สไลด์ 5 (S05): หนึ่ง · นับอย่างไร · สลับไม้บรรทัด รายชื่อจังหวัดขาดแคลน ก็เปลี่ยน · จัดอันดับแพทย์ สธ. ของ 76 จังหวัดด้วยตัวหารหกชนิด แล้วดูว่าใครตกอยู่ใน 19 จังหวัดที่ต่ำสุดในแต่ละครั้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6 ภาพสไลด์" descr="สไลด์ 6 (S06): หนึ่ง · นับอย่างไร · ที่ไหนป่วยหนัก ที่นั่นหมอน้อย · สังคมสูงวัยทำให้ภาระโรคโตเร็วกว่าจำนวนค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7 ภาพสไลด์" descr="สไลด์ 7 (S07): สอง · ทำไมความเหลื่อมล้ำสะสม · ความได้เปรียบสะสมตัวเอง จนกว่าจะมีแรงจากภายนอก · Gunnar Myrdal เรียกว่าวงจรเหตุปัจจัยแบบวนและสะสม พื้นที่ที่มีบริการ การฝึก และทีม ดึงคนเข้าหาตัว (backwash) ส่วนผลกระจายออก (spread) เกิดเมื่อมีแรงจากภายนอกที่มีทิศและแรงพอ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8 ภาพสไลด์" descr="สไลด์ 8 (S08): สอง · ทำไมความเหลื่อมล้ำสะสม · วันนี้วงจรยังหมุน: ทรัพยากรดึงทรัพยากร · ทักษะ ตำแหน่ง และบริการที่บันทึกได้ ต่างไหลไปหาที่ที่มีอยู่แล้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09 ภาพสไลด์" descr="สไลด์ 9 (S09): สอง · ทำไมความเหลื่อมล้ำสะสม · ถังที่รั่ว: ผลิตเพิ่มอย่างเดียวไม่พอ · พยาบาลเติบโตช้าไม่ใช่เพราะรับคนน้อย แต่เพราะต้องทดแทนคนที่ออกจำนวนมาก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0 ภาพสไลด์" descr="สไลด์ 10 (S10): สาม · คันโยกอยู่ที่ตำแหน่ง · สูตรจัดสรรตอบได้ว่า ใครขาดมากกว่าใคร ไม่ใช่ขาดเท่าใด · ถ้ามีผู้ตอบรับเริ่มงานปีละ 2,000 คน ทุกแผนจบที่จำนวนรวมเกือบเท่ากัน ช่องว่างที่เหลือในปี 2583 เป็นช่องว่างระดับประเทศทั้งหม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1 ภาพสไลด์" descr="สไลด์ 11 (S11): สาม · คันโยกอยู่ที่ตำแหน่ง · สามปีแล้วเต็ม เมื่อกรอบเต็ม กรอบคือสูตรจัดสรร · ตำแหน่งนายแพทย์ จ.18 มี 28,925 ตำแหน่ง ว่าง 2,813 ตำแหน่ง รับแพทย์ปฏิบัติงานเพิ่มได้อีกราว 2,444 คน ถ้ากรอบไม่ขยาย ตำแหน่งจะเต็มในปี 257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2 ภาพสไลด์" descr="สไลด์ 12 (S12): สาม · คันโยกอยู่ที่ตำแหน่ง · ตำแหน่งเท่ากัน วางให้ถูกที่ ได้ผลเท่าเพิ่มสองเท่า · เพิ่มตำแหน่งร้อยละห้าต่อรอบกรอบ รวม 4,559 ตำแหน่งในสิบห้าปี แล้วเลือกว่าจะเกลี่ยตามสัดส่วนเดิม หรือวางในจังหวัดที่ขาดก่อ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3 ภาพสไลด์" descr="สไลด์ 13 (S13): สาม · คันโยกอยู่ที่ตำแหน่ง · บันไดของบึงกาฬ · บึงกาฬมีแพทย์ 72 คน ตำแหน่ง 137 ตำแหน่ง และแพทย์ออกราวร้อยละ 13.4 ต่อปี กติกาที่เราเลือกตัดสินว่าบึงกาฬจะขึ้นไปได้ถึงขั้นใด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4 ภาพสไลด์" descr="สไลด์ 14 (S14): สาม · คันโยกอยู่ที่ตำแหน่ง · ใครจ่าย สำคัญกว่าจ้างแบบไหน · ถ้าลดตำแหน่งข้าราชการเมื่อว่าง แล้วเพิ่มลูกจ้างจนขีดรับรวมเท่าเดิม ผลขึ้นกับว่าใครจ่ายและวางตามอะไร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5 ภาพสไลด์" descr="สไลด์ 15 (S15): สาม · คันโยกอยู่ที่ตำแหน่ง · แผนที่ดีที่สุดตัดสินใหม่ทุกปี และบอกตรง ๆ ว่าใช้ได้แค่ไหน · ตำแหน่งตัดสินทุกห้าปี การส่งแพทย์ใหม่ตัดสินทุกปีจากตำแหน่งว่างจริง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6 ภาพสไลด์" descr="สไลด์ 16 (S16): สี่ · ใครรับภาระ · สิ่งที่ผูกคนไว้ ไม่ใช่สิ่งที่คนบ่นมากที่สุด · ผู้ปฏิบัติงาน 734 คน จาก 110 หน่วยบริการใน 66 จังหวัด ร้อยละ 16 คิดออกจากราชการหรือสังกัดภายในสามป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7 ภาพสไลด์" descr="สไลด์ 17 (S17): สี่ · ใครรับภาระ · ช่องว่างปิดได้สามทาง และทางหนึ่งคือย้ายภาระ · เมื่อตัวชี้วัดบอกว่าช่องว่างแคบลง มันอาจมาจากขีดความสามารถที่เพิ่มจริง จากการเปลี่ยนเป้าหมายหรือขอบเขต หรือจากงานที่ย้ายไปอยู่กับครอบครัวและวิชาชีพอื่น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8 ภาพสไลด์" descr="สไลด์ 18 (S18): ข้อเสนอ · กลับไปที่รอยต่อสี่จุด ข้อเสนอเจ็ดข้อที่ต้องทำเป็นลำดับ · แต่ละข้อแก้รอยต่อคนละจุด ถ้าข้อหนึ่งไม่ทำงาน ผลของข้ออื่นจะลดลงแม้ใช้ทรัพยากรไปแล้ว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19 ภาพสไลด์" descr="สไลด์ 19 (S19): ส่งต่อวงเสวนา · ข้อมูลบอกได้ว่าแต่ละทางเลือกต้องแลกกับอะไร แต่เลือกแทนเราไม่ได้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https://psitthirat.github.io/HRH-model/" descr="เปิด https://psitthirat.github.io/HRH-model/">
            <a:hlinkClick r:id="rId3"/>
          </p:cNvPr>
          <p:cNvSpPr/>
          <p:nvPr/>
        </p:nvSpPr>
        <p:spPr>
          <a:xfrm>
            <a:off x="9631759" y="1369715"/>
            <a:ext cx="2072580" cy="4631134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S20 ภาพสไลด์" descr="สไลด์ 20 (S20): Workforce Lab · คลิปแนะนำราว 6 นาท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เปิด Workforce Lab และคลิปแนะนำ" descr="เปิด Workforce Lab และคลิปแนะนำ">
            <a:hlinkClick r:id="rId3"/>
          </p:cNvPr>
          <p:cNvSpPr/>
          <p:nvPr/>
        </p:nvSpPr>
        <p:spPr>
          <a:xfrm>
            <a:off x="487660" y="860227"/>
            <a:ext cx="11216680" cy="4937720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เปิด https://psitthirat.github.io/HRH-model/lab/" descr="เปิด https://psitthirat.github.io/HRH-model/lab/">
            <a:hlinkClick r:id="rId3"/>
          </p:cNvPr>
          <p:cNvSpPr/>
          <p:nvPr/>
        </p:nvSpPr>
        <p:spPr>
          <a:xfrm>
            <a:off x="487660" y="6430962"/>
            <a:ext cx="3138587" cy="152003"/>
          </a:xfrm>
          <a:prstGeom prst="rect">
            <a:avLst/>
          </a:prstGeom>
          <a:noFill/>
          <a:ln>
            <a:noFill/>
          </a:ln>
        </p:spPr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ความก้าวหน้าไม่ได้เกิดขึ้นเอง</dc:title>
  <dc:subject>WS3 2026-10-26</dc:subject>
  <dc:creator>นพ.พีรสิชฌ์ สิทธิรัตน์</dc:creator>
  <cp:keywords/>
  <dc:description>ภาพสไลด์ทีละหน้า (ขั้นสุดท้ายของแต่ละหน้า) ไม่มีบันทึกผู้บรรยาย</dc:description>
  <cp:lastModifiedBy>หน่วยวิจัยนโยบายและระบบสุขภาพ คณะแพทยศาสตร์โรงพยาบาลรามาธิบดี มหาวิทยาลัยมหิดล</cp:lastModifiedBy>
  <cp:revision>1</cp:revision>
  <dcterms:created xsi:type="dcterms:W3CDTF">2026-10-24T04:24:20Z</dcterms:created>
  <dcterms:modified xsi:type="dcterms:W3CDTF">2026-10-24T04:24:20Z</dcterms:modified>
  <cp:category/>
</cp:coreProperties>
</file>